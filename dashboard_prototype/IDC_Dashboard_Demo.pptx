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40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INSTITUTO ELCANO  ·  EQUIPO DE SEGURIDAD ECONÓMICA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Dependencia </a:t>
            </a:r>
            <a:r>
              <a:rPr lang="en-US" sz="5600" b="1" i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niveles de análisis del riesgo comercial: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país al mundo, del sector a la red global.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HIDALGO Y MIGUEL OTERO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Pablo de Olavide · Elcano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5852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DEMO · MAYO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trabajo · reunión IBM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herramienta única, cuatro lecturas distintas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IDC se navega desde lo concreto hacia lo sistémico, o al revés.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06040" cy="37490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B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País / Sector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 de exposición de un país en un sector concreto. KPIs, proveedores, evolución histórica.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011680"/>
            <a:ext cx="2606040" cy="37490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B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35204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4114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País / País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4754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bilateral: en qué sectores depende un país de otro. Ranking ordenado por intensidad.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06040" cy="37490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B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4114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4754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de varios países frente a un mismo proveedor en una misma industria. Contextualiza.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23960" y="2011680"/>
            <a:ext cx="2606040" cy="37490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09828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600" dirty="0"/>
          </a:p>
        </p:txBody>
      </p:sp>
      <p:sp>
        <p:nvSpPr>
          <p:cNvPr id="23" name="Text 21"/>
          <p:cNvSpPr/>
          <p:nvPr/>
        </p:nvSpPr>
        <p:spPr>
          <a:xfrm>
            <a:off x="90982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98280" y="4114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Interdependencia Global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98280" y="4754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mundial de Hubs. Vista sistémica sin foco en un país concreto. Identifica los nodos críticos.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primeros niveles están centrados en un país (en rojo). El cuarto es una vista sistémica global (en azul).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 de inicio: punto de entrada único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elige país (para los Niveles 1-3) o accede directamente a la vista global (Nivel 4).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D4B08C4-9A7E-C05B-7789-209844D9B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473" y="2186682"/>
            <a:ext cx="8276253" cy="3810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PAÍS / SECTOR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Ficha completa de un país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defecto. Sin sector seleccionado se muestra el panorama global del país; con sector, la descomposición sectorial.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4231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del país (Dependencia + Diversificación)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entre riesgo directo e indirecto por macrosector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 proveedores o sectores críticos (5/10/20)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histórica del IDC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5349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· datos completos · cobertura total de países e industrias.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19C3ECF-7772-F941-2719-CAAF291B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45" y="1828539"/>
            <a:ext cx="7714669" cy="4389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PAÍS / PAÍS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Dependencia bilateral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la pregunta más frecuente: ¿en qué sectores depende este país de aquel otro?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NIVEL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vs China (ranking sectorial)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captura del 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4231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industrias ordenado por dependencia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KPIs: nº industrias, máxima dependencia y nº de industrias con dependencia ≥50%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país contraparte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depende de China en un 87% en iluminación, 86% en deporte, 79% en juguetes y baterías.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6F028FA-94EC-03ED-1A25-66CA2AB4D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9" y="1847462"/>
            <a:ext cx="6749143" cy="4156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COMPARATIVA MULTILATERAL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país, comparado con sus pares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mismo sector y un mismo proveedor, contrasta la posición de varios países importadores.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NIVEL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China → Games and toys → ESP, DEU, FRA, ITA, USA…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captura del 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4231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triple: proveedor + industria + países a comparar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horizontal con el país de referencia resaltado en rojo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para añadir/quitar países; sugerencias automáticas de candidatos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937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5257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no es excepción: casi todos los países occidentales tienen más del 90% de dependencia china en juguetes.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1064929-46A7-C71C-A801-25B6610F3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879315"/>
            <a:ext cx="7643365" cy="4562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INTERDEPENDENCIA GLOBAL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mundial de un vistazo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con el Índice de Hub Global (HG) por país, filtrable por sector.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NIVEL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+ ranking Top 15 Hubs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captura del 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4231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mundial coloreado por HG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Top 15 con barras de progreso normalizadas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sector y escala de color (lineal o logarítmica)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temporal histórica del HG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5120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5440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saca 100 sobre 100. USA, segundo, 13. España, puesto 16.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7BC6B3D-E4A8-EAF3-68E0-007B7AB52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2884"/>
            <a:ext cx="7113692" cy="4502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Hub Global (HG): cómo se construye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criticidad por dependencia, agregada a nivel de país exportador, normalizada al máximo.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HG</a:t>
            </a:r>
            <a:r>
              <a:rPr lang="en-US" sz="2000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(país, año) = </a:t>
            </a: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 </a:t>
            </a:r>
            <a:r>
              <a:rPr lang="en-US" sz="2000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(|criticidad| × dependencia)</a:t>
            </a:r>
            <a:r>
              <a:rPr lang="en-US" sz="1400" dirty="0">
                <a:solidFill>
                  <a:srgbClr val="8892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para todas las filas en que el país aparece como exportador.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Normalización: HG_norm = HG / max(HG_del_año) × 100  ·  Escala logarítmica para coloreado por la cola larga de la distribución.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HUBS GLOBALES (DATOS REALES 2022)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4041648"/>
            <a:ext cx="3200400" cy="137160"/>
          </a:xfrm>
          <a:prstGeom prst="rect">
            <a:avLst/>
          </a:prstGeom>
          <a:solidFill>
            <a:srgbClr val="2A2E45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749040" y="4041648"/>
            <a:ext cx="320040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04088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4498848"/>
            <a:ext cx="3200400" cy="137160"/>
          </a:xfrm>
          <a:prstGeom prst="rect">
            <a:avLst/>
          </a:prstGeom>
          <a:solidFill>
            <a:srgbClr val="2A2E45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749040" y="4498848"/>
            <a:ext cx="416052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040880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Suiza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4956048"/>
            <a:ext cx="3200400" cy="137160"/>
          </a:xfrm>
          <a:prstGeom prst="rect">
            <a:avLst/>
          </a:prstGeom>
          <a:solidFill>
            <a:srgbClr val="2A2E45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749040" y="4956048"/>
            <a:ext cx="144018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040880" y="4846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49040" y="5413248"/>
            <a:ext cx="3200400" cy="137160"/>
          </a:xfrm>
          <a:prstGeom prst="rect">
            <a:avLst/>
          </a:prstGeom>
          <a:solidFill>
            <a:srgbClr val="2A2E45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749040" y="5413248"/>
            <a:ext cx="99212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040880" y="5303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760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Sudáfrica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49040" y="5870448"/>
            <a:ext cx="3200400" cy="137160"/>
          </a:xfrm>
          <a:prstGeom prst="rect">
            <a:avLst/>
          </a:prstGeom>
          <a:solidFill>
            <a:srgbClr val="2A2E45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3749040" y="5870448"/>
            <a:ext cx="8321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040880" y="5760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39319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Hub mundial combina dos dimensiones: intensidad (cuán crítico eres allí donde apareces) y amplitud (en cuántos sitios eres relevante). La suma — no la media — las integra de forma natural.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larga (China muy por encima del resto) obliga a usar escala logarítmica para que el mapa sea legible.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· ORIGEN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los datos fuente al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capas: parquets bilaterales del pipeline de investigación → JSONs derivados → frontend.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4114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investigación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bilateral_2016.parquet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bilateral_2017.parquet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bilateral_2022.parquet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data_dist/meta.json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data_dist/year_*.json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data_dist/history.json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03120"/>
            <a:ext cx="3657600" cy="4114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bilateral_YYYY.json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(uno por año, indexado)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hubs_global.json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(multi-año, multi-sector)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657600" cy="4114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del usuario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País / Sector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País / País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Comparativa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Global Hubs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4114800"/>
            <a:ext cx="137160" cy="0"/>
          </a:xfrm>
          <a:prstGeom prst="line">
            <a:avLst/>
          </a:prstGeom>
          <a:noFill/>
          <a:ln w="3810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7909560" y="4114800"/>
            <a:ext cx="137160" cy="0"/>
          </a:xfrm>
          <a:prstGeom prst="line">
            <a:avLst/>
          </a:prstGeom>
          <a:noFill/>
          <a:ln w="3810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· PROCESAMIENTO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generan los JSONs derivados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procesos Python independientes, ambos consumen los parquets bilaterales.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532120" cy="42062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bilateral_YYYY.json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2 y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4983480" cy="2468880"/>
          </a:xfrm>
          <a:prstGeom prst="rect">
            <a:avLst/>
          </a:prstGeom>
          <a:solidFill>
            <a:srgbClr val="0D0F1A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pd.read_parquet(f'bilateral_{year}.parquet')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Indexar por par (importer, exporter)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by_pair = df.groupby(['importer','exporter']).apply(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g: g.sort_values('dependency',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ascending=False)[['industry',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'dependency','criticidad']].to_dict('records')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Indexar por (exporter, industry)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by_si = df.groupby(['exporter','industry']).apply(...)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json.dump({'year':year, 'by_pair':by_pair,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'by_supplier_industry':by_si}, ...)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JSON por año. Indexado a doble vía para servir consultas en O(1) desde el frontend.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5532120" cy="42062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hubs_global.json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2971800"/>
            <a:ext cx="4983480" cy="2468880"/>
          </a:xfrm>
          <a:prstGeom prst="rect">
            <a:avLst/>
          </a:prstGeom>
          <a:solidFill>
            <a:srgbClr val="0D0F1A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year in range(2016, 2023):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pd.read_parquet(f'bilateral_{year}.parquet')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df['w'] = df['criticidad'].abs() * df['dependency']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HG total por país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hg = df.groupby('exporter')['w'].sum()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hg_norm = hg / hg.max() * 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hg_log = np.log10(hg_norm.clip(lower=0.01))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HG por sector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hg_sec = df.groupby(['industry','exporter'])['w'].sum()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json.dump({'hg_total':..., 'hg_by_sector':...}, 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5532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JSON multi-año. Normalización relativa al máximo de cada año; escala log para coloreado.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y producción · estado actual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cubre la lógica completa de los cuatro niveles. Los datos están en distintos estados de cobertura.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685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359152"/>
            <a:ext cx="1371600" cy="365760"/>
          </a:xfrm>
          <a:prstGeom prst="rect">
            <a:avLst/>
          </a:prstGeom>
          <a:solidFill>
            <a:srgbClr val="60A5FA">
              <a:alpha val="3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3591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 · todos los países, todas las industrias, todos los años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47120" cy="685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3136392"/>
            <a:ext cx="1371600" cy="365760"/>
          </a:xfrm>
          <a:prstGeom prst="rect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28600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31363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importadores × 19 industrias clave, año 2022. Pendiente: cobertura completa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1247120" cy="685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913632"/>
            <a:ext cx="1371600" cy="365760"/>
          </a:xfrm>
          <a:prstGeom prst="rect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28600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9136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subset que N2. Pendiente: cobertura completa de países y sectores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1247120" cy="6858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0" y="4690872"/>
            <a:ext cx="1371600" cy="365760"/>
          </a:xfrm>
          <a:prstGeom prst="rect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286000" y="4690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46908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2022 reales. Serie temporal 2016-2021 sintética (placeholder). Pendiente: ingesta histórica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pasar de demo a producción: </a:t>
            </a: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los bilateral_YYYY.json y el hubs_global.json para todos los años disponibles ejecutando los dos scripts Python documentados. El frontend ya está preparado para consumirlos.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PENDIENTES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puntos que requieren conversación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Cuestiones de diseño y metodología que deben cerrarse entre el equipo de investigación y el equipo técnico.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sectorial completa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versión final incluye las 170 industrias o se priorizan las más relevantes? Impacta el tamaño de los JSON.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971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carga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¿bilateral_YYYY.json se sirve completo o segmentado por país y cargado on-demand?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Agregaciones regionales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UE, Mercosur, ASEAN... requieren colapsar la matriz original a regiones, no promediar países.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operativa de Hub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propuesta (suma de |criticidad| × dependencia) es defendible pero revisable. Decisión metodológica del equipo de investigación.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640080" cy="640080"/>
          </a:xfrm>
          <a:prstGeom prst="ellipse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720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5440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del signo de criticidad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actual usa valor absoluto. Hay que decidir si el signo aporta información relevante.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 hasta producción.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42062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· 1-2 semanas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bilateral_YYYY.json con cobertura completa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hubs_global.json con histórico real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metodología del HG con el equipo de investigación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657600" cy="42062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· IBM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6576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de UX/UI sobre los cuatro niveles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la línea visual definitiva del Real Instituto Elcano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carga (segmentación on-demand si necesario)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657600" cy="420624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E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321040" y="2331720"/>
            <a:ext cx="45720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· medio plazo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6576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Agregaciones regionales (UE, ASEAN, Mercosur…)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académica con descarga completa de datos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Hubs por sector con mayor granularidad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Dependencia Comercial · Real Instituto Elcano · Mayo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B2521"/>
          </a:solidFill>
          <a:ln w="12700">
            <a:solidFill>
              <a:srgbClr val="BB25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400" dirty="0">
                <a:solidFill>
                  <a:srgbClr val="F0F2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Comentarios, preguntas y observaciones, </a:t>
            </a:r>
            <a:r>
              <a:rPr lang="en-US" sz="18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Hidalgo y Miguel Otero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Pablo de Olavide  ·  EsadeEcPol  ·  Real Instituto Elcano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1820</Words>
  <Application>Microsoft Office PowerPoint</Application>
  <PresentationFormat>Panorámica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Dependencia Comercial</dc:title>
  <dc:subject>PptxGenJS Presentation</dc:subject>
  <dc:creator>Manuel Hidalgo · Real Instituto Elcano</dc:creator>
  <cp:lastModifiedBy>Manuel Alejandro Hidalgo Perez</cp:lastModifiedBy>
  <cp:revision>3</cp:revision>
  <dcterms:created xsi:type="dcterms:W3CDTF">2026-05-13T09:48:31Z</dcterms:created>
  <dcterms:modified xsi:type="dcterms:W3CDTF">2026-05-13T10:30:37Z</dcterms:modified>
</cp:coreProperties>
</file>